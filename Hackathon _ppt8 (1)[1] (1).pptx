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7"/>
    <p:restoredTop sz="94681"/>
  </p:normalViewPr>
  <p:slideViewPr>
    <p:cSldViewPr snapToGrid="0">
      <p:cViewPr>
        <p:scale>
          <a:sx n="50" d="100"/>
          <a:sy n="50" d="100"/>
        </p:scale>
        <p:origin x="4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D589-5427-5338-3CE6-CB4CB2D10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02893-5F27-8131-1A2D-10EF2028C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80B9F-C7B5-146D-C962-8FFC9D02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A8B1-149D-861F-3A7C-F200D7D6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9682C-4335-8F37-39FB-093A9D2A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5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CFD7-3C00-1E4C-5E8D-684ADA11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78DF-530B-0773-68C6-2924A702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5FEE-4272-42BE-4DA8-BA1B0CB3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58017-37E6-8144-CF78-BC627AFF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810FA-CB00-7284-D9A1-4CCA7065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8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F131-C1F2-DCE4-E0CE-AFF3ED91B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87563-1BF3-C237-DB0A-0E37006A0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2C18D-EF21-5113-3584-D1331588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17B76-61D6-181D-78F8-56BABE45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25929-93E3-F75E-411A-0034AE1A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6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5B1B-398E-E96F-26B7-59F72DB1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9B77-4681-2ABA-D980-841CC2499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4E983-D0F6-1A9A-023C-3D22D5FB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19BBB-C4E8-36DE-DF89-AA89DA3E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3362-6C1E-F6EE-15A7-1891E9D0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48A5C-CE72-692B-1068-8FCFCDF7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A7FD-1529-6353-B51B-01965BAD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D72ED-0CA6-342C-EA5F-0C27D1E66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6AF58-CCBF-2FDB-99E7-2032566D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0471C-AF50-CE86-EE76-649A7967A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032FC-8C04-8ED5-1124-EDBA73478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15C8C-1286-8F77-2654-A10BF7EE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EB5CB-6CC5-746A-739F-0AAB40E8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776AA-EEBF-A909-F9FA-07D6CFE9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8B4E-32A0-0265-0F2F-AA3A7615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BFE55-3E0F-046B-BAD8-CF7F0102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786EC-2E38-873B-5117-9C227054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F3E33-095D-8100-26B3-D7CCA113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3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F3D12-83B0-4A50-2F79-64B54A4D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D4344-AD3F-0D1A-13B7-AD0AD9B5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528B-2521-A56D-7774-B4329226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7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EE2E-583D-7BA7-AB08-2ECFE453C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D497-ADE7-E57C-CB78-92F33DA9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AF4D9-A521-18E3-1DA4-6AF28D63E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EDE40-D661-E82F-AF89-1AEED027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8E238-882A-B93D-E9CF-68317842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B5B79-C2FB-8A0D-DF43-7659350F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0FB1-C8AB-67E9-CF71-9227BF00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859C8-1933-18B9-5930-CE9CD8329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50A0F-9E8B-2AF1-AEF6-A5A0C9469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A80D-C045-5579-A0DD-9ECE35CF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7FCA4-8FBD-5CD3-D802-40506C70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BE79C-F18F-AF75-908D-79866A47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5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7B07-4764-7C71-9BCC-66469F35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5B6F9-8C4E-8106-50E5-2CEEB4FE7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3902-0941-E58D-D3CD-5ED95DBA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A0643-EFC6-2E25-84CB-ECC5A274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93AF-72DE-B4B2-734A-E30E79BE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3BE4C-3F03-798B-B0F8-3E7704067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90CF0-A8B0-3F41-EE36-B522A8B13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64DD3-C923-CD50-F401-00393C0A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8307-6BA2-EC82-0A0E-1C376903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5A5-DB6A-F556-F6BB-9449B50F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1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43530-93A7-B6CC-BB7A-6372C008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EDC33-A5AC-E624-3578-7A31A851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27853-3F34-6847-F818-5E23FA1E3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D170D-2D0D-2141-81C5-316BB991FDD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A0A45-A7A2-96A6-E32C-EDA249F5E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1DAD0-7E93-A484-C7DB-8F7B19EDC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3B7AD-9E04-BD4B-B52F-034D3B0B9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3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712FA-7A8D-FFD6-EC08-21E83BD47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164" y="1146412"/>
            <a:ext cx="10073950" cy="2402006"/>
          </a:xfrm>
        </p:spPr>
        <p:txBody>
          <a:bodyPr anchor="b">
            <a:normAutofit/>
          </a:bodyPr>
          <a:lstStyle/>
          <a:p>
            <a:pPr algn="l"/>
            <a:endParaRPr lang="en-US" sz="40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644A0-4980-3FE9-EC6F-E1A581AA3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7760"/>
            <a:ext cx="12191983" cy="1401971"/>
          </a:xfrm>
        </p:spPr>
        <p:txBody>
          <a:bodyPr anchor="ctr"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Hackathon - Transfer Learning with GenAI Tools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– 30/04/2025</a:t>
            </a:r>
          </a:p>
        </p:txBody>
      </p:sp>
      <p:pic>
        <p:nvPicPr>
          <p:cNvPr id="5" name="Picture 4" descr="A finger pointing at a brain&#10;&#10;AI-generated content may be incorrect.">
            <a:extLst>
              <a:ext uri="{FF2B5EF4-FFF2-40B4-BE49-F238E27FC236}">
                <a16:creationId xmlns:a16="http://schemas.microsoft.com/office/drawing/2014/main" id="{BDA9965A-8AB3-842C-5926-504B7B2A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3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6133115A-2D98-B92F-F1A2-F2F9A78DFC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/>
        </p:blipFill>
        <p:spPr>
          <a:xfrm>
            <a:off x="20" y="14298"/>
            <a:ext cx="12191980" cy="685799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EA35E-6BEC-6B52-5A43-527D394D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40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8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Front Runners</a:t>
            </a:r>
            <a:endPara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13A082-6E59-A46C-1EAD-C906DAE97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716541"/>
              </p:ext>
            </p:extLst>
          </p:nvPr>
        </p:nvGraphicFramePr>
        <p:xfrm>
          <a:off x="952500" y="1690688"/>
          <a:ext cx="10515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375652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0241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Participants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Participants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11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Arpita </a:t>
                      </a:r>
                      <a:r>
                        <a:rPr lang="en-IN" dirty="0" err="1"/>
                        <a:t>Uttamrao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Thokal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24005907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06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Cristina Baron Suarez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23069038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99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David </a:t>
                      </a:r>
                      <a:r>
                        <a:rPr lang="en-IN" dirty="0" err="1"/>
                        <a:t>Ojomo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07168946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022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Edward Leen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23090780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84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Jency Francis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23082639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63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Sandra </a:t>
                      </a:r>
                      <a:r>
                        <a:rPr lang="en-IN" dirty="0" err="1"/>
                        <a:t>Mugao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23002387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230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Sherin Johny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23050521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65159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Tiasa Malitya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24005709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08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14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dotDmnd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52557-6772-E158-F714-ED87DF5B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C0F26-7DAF-7607-693B-D99B36BDFC58}"/>
              </a:ext>
            </a:extLst>
          </p:cNvPr>
          <p:cNvSpPr txBox="1"/>
          <p:nvPr/>
        </p:nvSpPr>
        <p:spPr>
          <a:xfrm>
            <a:off x="142875" y="1885950"/>
            <a:ext cx="1184433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explore the SVHN dataset containing real-world digit images.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dataset to handle challenges like cluttered backgrounds and overlapping digits.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transfer learning using a pre-trained CNN for efficient feature extraction.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train a robust image classification model to predict digits (0–9) accurately.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validation and test accuracy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and analyze outputs generated by different GenAI tools (ChatGPT, Gemini,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Copilot).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the entire process and insights to showcase the impact of GenAI in real-world machine learning workflows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54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4D463-557E-04D6-EEDC-5F30270D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Dataset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1BA61-9E36-FB24-DEBF-4134C2A54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3" y="928688"/>
            <a:ext cx="12058650" cy="5929312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SVHN (Street View House Numbers)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digits (0–9) from real-world house number images captured by Google Street View.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cropped images of size 32×32 pixels.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digit classes (0 through 9)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630,000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73,257 images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26,032 images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531,131 images (optional for extended training)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(32x32 RGB), label (digit), id (text)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type: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integer (0–9)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15C81-50A2-EC0B-D8BD-962E59014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046653"/>
            <a:ext cx="5868706" cy="337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B11FD-CD67-9D05-896C-68FCB7F2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Preprocessing Steps by Each GenAI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3286B8E-4B91-1451-1BD7-18D695CB4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567768"/>
              </p:ext>
            </p:extLst>
          </p:nvPr>
        </p:nvGraphicFramePr>
        <p:xfrm>
          <a:off x="268854" y="1825624"/>
          <a:ext cx="11732648" cy="4737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162">
                  <a:extLst>
                    <a:ext uri="{9D8B030D-6E8A-4147-A177-3AD203B41FA5}">
                      <a16:colId xmlns:a16="http://schemas.microsoft.com/office/drawing/2014/main" val="638297647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4161363263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876831184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3656897674"/>
                    </a:ext>
                  </a:extLst>
                </a:gridCol>
              </a:tblGrid>
              <a:tr h="541467">
                <a:tc>
                  <a:txBody>
                    <a:bodyPr/>
                    <a:lstStyle/>
                    <a:p>
                      <a:r>
                        <a:rPr lang="en-US" dirty="0"/>
                        <a:t>ChatGPT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Deepseek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Copilot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581499"/>
                  </a:ext>
                </a:extLst>
              </a:tr>
              <a:tr h="4196371">
                <a:tc>
                  <a:txBody>
                    <a:bodyPr/>
                    <a:lstStyle/>
                    <a:p>
                      <a:r>
                        <a:rPr lang="en-IN" dirty="0"/>
                        <a:t>✅ Normalize to [0,1]</a:t>
                      </a:r>
                      <a:br>
                        <a:rPr lang="en-IN" dirty="0"/>
                      </a:br>
                      <a:r>
                        <a:rPr lang="en-IN" dirty="0"/>
                        <a:t>✅ One-hot encoding</a:t>
                      </a:r>
                      <a:br>
                        <a:rPr lang="en-IN" dirty="0"/>
                      </a:br>
                      <a:r>
                        <a:rPr lang="en-IN" dirty="0"/>
                        <a:t>✅ 10% </a:t>
                      </a:r>
                      <a:r>
                        <a:rPr lang="en-IN" dirty="0" err="1"/>
                        <a:t>val</a:t>
                      </a:r>
                      <a:r>
                        <a:rPr lang="en-IN" dirty="0"/>
                        <a:t> split from train</a:t>
                      </a:r>
                      <a:br>
                        <a:rPr lang="en-IN" dirty="0"/>
                      </a:br>
                      <a:r>
                        <a:rPr lang="en-IN" dirty="0"/>
                        <a:t>🔄 Augmentation:</a:t>
                      </a:r>
                      <a:br>
                        <a:rPr lang="en-IN" dirty="0"/>
                      </a:br>
                      <a:r>
                        <a:rPr lang="en-IN" dirty="0"/>
                        <a:t>• Flip</a:t>
                      </a:r>
                      <a:br>
                        <a:rPr lang="en-IN" dirty="0"/>
                      </a:br>
                      <a:r>
                        <a:rPr lang="en-IN" dirty="0"/>
                        <a:t>• Rotation</a:t>
                      </a:r>
                      <a:br>
                        <a:rPr lang="en-IN" dirty="0"/>
                      </a:br>
                      <a:r>
                        <a:rPr lang="en-IN" dirty="0"/>
                        <a:t>• Zoom</a:t>
                      </a:r>
                      <a:br>
                        <a:rPr lang="en-IN" dirty="0"/>
                      </a:br>
                      <a:r>
                        <a:rPr lang="en-IN" dirty="0"/>
                        <a:t>•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Normalize</a:t>
                      </a:r>
                      <a:br>
                        <a:rPr lang="en-IN" dirty="0"/>
                      </a:br>
                      <a:r>
                        <a:rPr lang="en-IN" dirty="0"/>
                        <a:t>✅ Resize</a:t>
                      </a:r>
                      <a:br>
                        <a:rPr lang="en-IN" dirty="0"/>
                      </a:br>
                      <a:r>
                        <a:rPr lang="en-IN" dirty="0"/>
                        <a:t>✅ One-hot encoding</a:t>
                      </a:r>
                      <a:br>
                        <a:rPr lang="en-IN" dirty="0"/>
                      </a:br>
                      <a:r>
                        <a:rPr lang="en-IN" dirty="0"/>
                        <a:t>🚫 No </a:t>
                      </a:r>
                      <a:r>
                        <a:rPr lang="en-IN" dirty="0" err="1"/>
                        <a:t>val</a:t>
                      </a:r>
                      <a:r>
                        <a:rPr lang="en-IN" dirty="0"/>
                        <a:t> split</a:t>
                      </a:r>
                      <a:br>
                        <a:rPr lang="en-IN" dirty="0"/>
                      </a:br>
                      <a:r>
                        <a:rPr lang="en-IN" dirty="0"/>
                        <a:t>🔄 Augmentation:</a:t>
                      </a:r>
                      <a:br>
                        <a:rPr lang="en-IN" dirty="0"/>
                      </a:br>
                      <a:r>
                        <a:rPr lang="en-IN" dirty="0"/>
                        <a:t>• Flip</a:t>
                      </a:r>
                      <a:br>
                        <a:rPr lang="en-IN" dirty="0"/>
                      </a:br>
                      <a:r>
                        <a:rPr lang="en-IN" dirty="0"/>
                        <a:t>• 90° Rotation</a:t>
                      </a:r>
                      <a:br>
                        <a:rPr lang="en-IN" dirty="0"/>
                      </a:br>
                      <a:r>
                        <a:rPr lang="en-IN" dirty="0"/>
                        <a:t>• Crop &amp; Resize</a:t>
                      </a:r>
                      <a:br>
                        <a:rPr lang="en-IN" dirty="0"/>
                      </a:br>
                      <a:r>
                        <a:rPr lang="en-IN" dirty="0"/>
                        <a:t>• Brightness</a:t>
                      </a:r>
                      <a:br>
                        <a:rPr lang="en-IN" dirty="0"/>
                      </a:br>
                      <a:r>
                        <a:rPr lang="en-IN" dirty="0"/>
                        <a:t>• 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Normalize to [0,1]</a:t>
                      </a:r>
                      <a:br>
                        <a:rPr lang="en-IN" dirty="0"/>
                      </a:br>
                      <a:r>
                        <a:rPr lang="en-IN" dirty="0"/>
                        <a:t>✅ One-hot encoding</a:t>
                      </a:r>
                      <a:br>
                        <a:rPr lang="en-IN" dirty="0"/>
                      </a:br>
                      <a:r>
                        <a:rPr lang="en-IN" dirty="0"/>
                        <a:t>🚫 No </a:t>
                      </a:r>
                      <a:r>
                        <a:rPr lang="en-IN" dirty="0" err="1"/>
                        <a:t>val</a:t>
                      </a:r>
                      <a:r>
                        <a:rPr lang="en-IN" dirty="0"/>
                        <a:t> split</a:t>
                      </a:r>
                      <a:br>
                        <a:rPr lang="en-IN" dirty="0"/>
                      </a:br>
                      <a:r>
                        <a:rPr lang="en-IN" dirty="0"/>
                        <a:t>🔄 Augmentation:</a:t>
                      </a:r>
                      <a:br>
                        <a:rPr lang="en-IN" dirty="0"/>
                      </a:br>
                      <a:r>
                        <a:rPr lang="en-IN" dirty="0"/>
                        <a:t>• Rotation</a:t>
                      </a:r>
                      <a:br>
                        <a:rPr lang="en-IN" dirty="0"/>
                      </a:br>
                      <a:r>
                        <a:rPr lang="en-IN" dirty="0"/>
                        <a:t>• Zoom</a:t>
                      </a:r>
                      <a:br>
                        <a:rPr lang="en-IN" dirty="0"/>
                      </a:br>
                      <a:r>
                        <a:rPr lang="en-IN" dirty="0"/>
                        <a:t>• Translation</a:t>
                      </a:r>
                      <a:br>
                        <a:rPr lang="en-IN" dirty="0"/>
                      </a:br>
                      <a:r>
                        <a:rPr lang="en-IN" dirty="0"/>
                        <a:t>• Flip (horizontal)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Normalize to [0,1]</a:t>
                      </a:r>
                      <a:br>
                        <a:rPr lang="en-IN" dirty="0"/>
                      </a:br>
                      <a:r>
                        <a:rPr lang="en-IN" dirty="0"/>
                        <a:t>✅ One-hot encoding</a:t>
                      </a:r>
                      <a:br>
                        <a:rPr lang="en-IN" dirty="0"/>
                      </a:br>
                      <a:r>
                        <a:rPr lang="en-IN" dirty="0"/>
                        <a:t>✅ 15% </a:t>
                      </a:r>
                      <a:r>
                        <a:rPr lang="en-IN" dirty="0" err="1"/>
                        <a:t>val</a:t>
                      </a:r>
                      <a:r>
                        <a:rPr lang="en-IN" dirty="0"/>
                        <a:t> split</a:t>
                      </a:r>
                      <a:br>
                        <a:rPr lang="en-IN" dirty="0"/>
                      </a:br>
                      <a:r>
                        <a:rPr lang="en-IN" dirty="0"/>
                        <a:t>🔄 Augmentation:</a:t>
                      </a:r>
                      <a:br>
                        <a:rPr lang="en-IN" dirty="0"/>
                      </a:br>
                      <a:r>
                        <a:rPr lang="en-IN" dirty="0"/>
                        <a:t>• Rotation</a:t>
                      </a:r>
                      <a:br>
                        <a:rPr lang="en-IN" dirty="0"/>
                      </a:br>
                      <a:r>
                        <a:rPr lang="en-IN" dirty="0"/>
                        <a:t>• Zoom</a:t>
                      </a:r>
                      <a:br>
                        <a:rPr lang="en-IN" dirty="0"/>
                      </a:br>
                      <a:r>
                        <a:rPr lang="en-IN" dirty="0"/>
                        <a:t>• Translation</a:t>
                      </a:r>
                      <a:br>
                        <a:rPr lang="en-IN" dirty="0"/>
                      </a:br>
                      <a:r>
                        <a:rPr lang="en-IN" dirty="0"/>
                        <a:t>🚫 No flips (digit-safe)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96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72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66725-CE25-6187-8CB7-408775D7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Gemini Output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2D80-AEF0-E65A-F4DB-7F5A90B96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2318197"/>
            <a:ext cx="10302350" cy="3714303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000" b="1" dirty="0"/>
              <a:t>SVHN</a:t>
            </a:r>
            <a:r>
              <a:rPr lang="en-US" sz="2000" dirty="0"/>
              <a:t> : reading house numbers from photos taken on a busy street- </a:t>
            </a:r>
            <a:r>
              <a:rPr lang="en-US" sz="2000" b="1" dirty="0"/>
              <a:t>MNIST</a:t>
            </a:r>
            <a:r>
              <a:rPr lang="en-US" sz="2000" dirty="0"/>
              <a:t> : reading clean digits written on paper</a:t>
            </a:r>
          </a:p>
          <a:p>
            <a:pPr>
              <a:buFontTx/>
              <a:buChar char="-"/>
            </a:pPr>
            <a:r>
              <a:rPr lang="en-US" sz="2000" b="1" dirty="0"/>
              <a:t>Model</a:t>
            </a:r>
            <a:r>
              <a:rPr lang="en-US" sz="2000" dirty="0"/>
              <a:t> : EfficientNet-B0 pre-trained on ImageNet</a:t>
            </a:r>
          </a:p>
          <a:p>
            <a:pPr>
              <a:buFontTx/>
              <a:buChar char="-"/>
            </a:pPr>
            <a:r>
              <a:rPr lang="en-US" sz="2000" b="1" dirty="0"/>
              <a:t>Results</a:t>
            </a:r>
            <a:r>
              <a:rPr lang="en-US" sz="2000" dirty="0"/>
              <a:t> :- Dominant digits monopolized the updates (class imbalance)- Minimal augmentation -&gt; </a:t>
            </a:r>
            <a:r>
              <a:rPr lang="en-US" sz="2000" dirty="0" err="1"/>
              <a:t>Fragil</a:t>
            </a:r>
            <a:r>
              <a:rPr lang="en-US" sz="2000" dirty="0"/>
              <a:t> model- Learning rate too aggressive</a:t>
            </a:r>
          </a:p>
          <a:p>
            <a:pPr>
              <a:buFontTx/>
              <a:buChar char="-"/>
            </a:pPr>
            <a:r>
              <a:rPr lang="en-US" sz="2000" b="1" dirty="0"/>
              <a:t>How to improve the model: </a:t>
            </a:r>
            <a:r>
              <a:rPr lang="en-US" sz="2000" dirty="0"/>
              <a:t>- Gradually un-freeze later </a:t>
            </a:r>
            <a:r>
              <a:rPr lang="en-US" sz="2000" dirty="0" err="1"/>
              <a:t>EfficientNet</a:t>
            </a:r>
            <a:r>
              <a:rPr lang="en-US" sz="2000" dirty="0"/>
              <a:t> blocks- Learning Rate: 0.0001- Strong cropping, blur, and color jitter- Rebalance classes with weighted or focal loss- Train longer</a:t>
            </a:r>
          </a:p>
        </p:txBody>
      </p:sp>
    </p:spTree>
    <p:extLst>
      <p:ext uri="{BB962C8B-B14F-4D97-AF65-F5344CB8AC3E}">
        <p14:creationId xmlns:p14="http://schemas.microsoft.com/office/powerpoint/2010/main" val="351659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1C0FA-DACA-FDA0-4677-46823507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</a:rPr>
              <a:t>DeepSeek</a:t>
            </a:r>
            <a:r>
              <a:rPr lang="en-US" sz="4000" dirty="0">
                <a:solidFill>
                  <a:srgbClr val="FFFFFF"/>
                </a:solidFill>
              </a:rPr>
              <a:t> Output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486E0-67A0-6F27-36A1-1CCB1D37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4866340" cy="319360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first prompt using EfficientnetB0 had an accuracy of 18.85 </a:t>
            </a:r>
          </a:p>
          <a:p>
            <a:r>
              <a:rPr lang="en-US" sz="2000" dirty="0"/>
              <a:t>It also consisted of 4 errors in the code</a:t>
            </a:r>
          </a:p>
          <a:p>
            <a:r>
              <a:rPr lang="en-US" sz="2000" dirty="0"/>
              <a:t>The second model used </a:t>
            </a:r>
            <a:r>
              <a:rPr lang="en-US" sz="2000" dirty="0" err="1"/>
              <a:t>Mobilenet</a:t>
            </a:r>
            <a:r>
              <a:rPr lang="en-US" sz="2000" dirty="0"/>
              <a:t> had an accuracy of 18.89</a:t>
            </a:r>
          </a:p>
          <a:p>
            <a:r>
              <a:rPr lang="en-US" sz="2000" dirty="0"/>
              <a:t>It consisted of no errors</a:t>
            </a:r>
          </a:p>
          <a:p>
            <a:r>
              <a:rPr lang="en-US" sz="2000" dirty="0" err="1"/>
              <a:t>Mobilenet</a:t>
            </a:r>
            <a:r>
              <a:rPr lang="en-US" sz="2000" dirty="0"/>
              <a:t> is lightweight and </a:t>
            </a:r>
            <a:r>
              <a:rPr lang="en-US" sz="2000" dirty="0" err="1"/>
              <a:t>Deepseek</a:t>
            </a:r>
            <a:r>
              <a:rPr lang="en-US" sz="2000" dirty="0"/>
              <a:t> used this as it is faster model </a:t>
            </a:r>
          </a:p>
        </p:txBody>
      </p:sp>
      <p:pic>
        <p:nvPicPr>
          <p:cNvPr id="5" name="Picture 4" descr="A graph of confusion matrix&#10;&#10;AI-generated content may be incorrect.">
            <a:extLst>
              <a:ext uri="{FF2B5EF4-FFF2-40B4-BE49-F238E27FC236}">
                <a16:creationId xmlns:a16="http://schemas.microsoft.com/office/drawing/2014/main" id="{20AE15AC-1463-358F-1CDE-5D50F89E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914" y="1940369"/>
            <a:ext cx="5256213" cy="462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3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B953E-B209-E94A-D501-E6251B53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355C48-A63D-5D08-BF14-1DDCB4E06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93C811-3B66-9279-B517-9AB4536EE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44067-14A4-3FF7-1027-113DAB259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5AD17-BB88-F7E2-6DF7-80F65FA35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4C9125-2F87-F49A-5EBF-EF4A4832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9F9B2-3015-9BB0-1EFE-7D9438D3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</a:rPr>
              <a:t>DeepSeek</a:t>
            </a:r>
            <a:r>
              <a:rPr lang="en-US" sz="4000" dirty="0">
                <a:solidFill>
                  <a:srgbClr val="FFFFFF"/>
                </a:solidFill>
              </a:rPr>
              <a:t> Output and Analysis</a:t>
            </a:r>
          </a:p>
        </p:txBody>
      </p:sp>
      <p:pic>
        <p:nvPicPr>
          <p:cNvPr id="9" name="Picture 8" descr="A close-up of a number&#10;&#10;AI-generated content may be incorrect.">
            <a:extLst>
              <a:ext uri="{FF2B5EF4-FFF2-40B4-BE49-F238E27FC236}">
                <a16:creationId xmlns:a16="http://schemas.microsoft.com/office/drawing/2014/main" id="{CBDF18BF-BAFE-0CC5-92A4-E9FF1B3C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94" y="1885279"/>
            <a:ext cx="4456826" cy="462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22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25B8-6227-27CD-5039-9CE9DCBA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Output and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6F1E-FE8C-39F2-9EA4-AFEFDBD2F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Justification for getting all the prediction as 1 in confusion </a:t>
            </a:r>
            <a:r>
              <a:rPr lang="en-US" dirty="0" err="1"/>
              <a:t>matrix:Training</a:t>
            </a:r>
            <a:r>
              <a:rPr lang="en-US" dirty="0"/>
              <a:t> </a:t>
            </a:r>
            <a:r>
              <a:rPr lang="en-US" dirty="0" err="1"/>
              <a:t>MisconfigurationImproper</a:t>
            </a:r>
            <a:r>
              <a:rPr lang="en-US" dirty="0"/>
              <a:t> Output </a:t>
            </a:r>
            <a:r>
              <a:rPr lang="en-US" dirty="0" err="1"/>
              <a:t>Layerpretrained</a:t>
            </a:r>
            <a:r>
              <a:rPr lang="en-US" dirty="0"/>
              <a:t> model</a:t>
            </a:r>
            <a:endParaRPr lang="en-IN" dirty="0"/>
          </a:p>
        </p:txBody>
      </p:sp>
      <p:pic>
        <p:nvPicPr>
          <p:cNvPr id="5" name="Picture 4" descr="A graph of a confused matrix&#10;&#10;AI-generated content may be incorrect.">
            <a:extLst>
              <a:ext uri="{FF2B5EF4-FFF2-40B4-BE49-F238E27FC236}">
                <a16:creationId xmlns:a16="http://schemas.microsoft.com/office/drawing/2014/main" id="{A510E701-3B07-FE3B-D084-94C5BD00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05918"/>
            <a:ext cx="4245429" cy="3392715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FF84C618-5D91-E805-9F4E-CE81E0AD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5918"/>
            <a:ext cx="4746171" cy="34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FCEB4-D10A-69E1-C80D-72242279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 Copilot Output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C9D02-181E-BAE6-B7DB-B5E588773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5" y="1885279"/>
            <a:ext cx="5694948" cy="447541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Copilot Brief: </a:t>
            </a:r>
            <a:r>
              <a:rPr lang="en-US" sz="1800" dirty="0" err="1"/>
              <a:t>Promts</a:t>
            </a:r>
            <a:r>
              <a:rPr lang="en-US" sz="1800" dirty="0"/>
              <a:t>: 6 </a:t>
            </a:r>
          </a:p>
          <a:p>
            <a:r>
              <a:rPr lang="en-US" sz="1800" dirty="0"/>
              <a:t>Errors: Multiple </a:t>
            </a:r>
            <a:r>
              <a:rPr lang="en-US" sz="1800" dirty="0" err="1"/>
              <a:t>i.e</a:t>
            </a:r>
            <a:r>
              <a:rPr lang="en-US" sz="1800" dirty="0"/>
              <a:t> not using function defined</a:t>
            </a:r>
          </a:p>
          <a:p>
            <a:r>
              <a:rPr lang="en-US" sz="1800" dirty="0"/>
              <a:t> Accuracy: </a:t>
            </a:r>
            <a:r>
              <a:rPr lang="en-US" sz="1800" dirty="0" err="1"/>
              <a:t>Comperatively</a:t>
            </a:r>
            <a:r>
              <a:rPr lang="en-US" sz="1800" dirty="0"/>
              <a:t> high (~30%) after 5 epochs after switching to ResNet50</a:t>
            </a:r>
          </a:p>
          <a:p>
            <a:r>
              <a:rPr lang="en-US" sz="1800" dirty="0"/>
              <a:t>Model evaluation: Copilot provided a confusion matrix, which shows that the model did well at predicting True </a:t>
            </a:r>
            <a:r>
              <a:rPr lang="en-US" sz="1800"/>
              <a:t>1 values</a:t>
            </a:r>
            <a:endParaRPr lang="en-US" sz="1800" dirty="0"/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28" y="1997574"/>
            <a:ext cx="5398074" cy="43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7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1EC53-B7F2-26EA-9783-349F79BC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Comparison of the 4 Gen AI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01414D3-3155-E959-C623-F95B493E33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504656"/>
              </p:ext>
            </p:extLst>
          </p:nvPr>
        </p:nvGraphicFramePr>
        <p:xfrm>
          <a:off x="838200" y="2177143"/>
          <a:ext cx="10845800" cy="4083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9160">
                  <a:extLst>
                    <a:ext uri="{9D8B030D-6E8A-4147-A177-3AD203B41FA5}">
                      <a16:colId xmlns:a16="http://schemas.microsoft.com/office/drawing/2014/main" val="1148972668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950382201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449012759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138056608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1779795351"/>
                    </a:ext>
                  </a:extLst>
                </a:gridCol>
              </a:tblGrid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Feature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ChatGPT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Gemini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DeepSeek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Copilot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6065054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Model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EfficientNet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EfficientNet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MobileNetV2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Resnet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3655119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Resize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224x224              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224x224               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96x96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(32, 32, 3)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9921631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Label Encoding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One-hot encoded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One-hot encoded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One-hot encoded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One-hot encoded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3094836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Loss Function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categorical_crossentropy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categorical_crossentropy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categorical_crossentropy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categorical_crossentropy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9134766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Dense Layer Units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128units                                        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512units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128units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128 units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6152716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Dropout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0.3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0.5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0.3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0.5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9870596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Explanations Quality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Detailed, step-by-step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Insightful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Comprehensive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Good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9506802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Training History Plotting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Enabled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Included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2356544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Fine-tuning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Yes                  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Applied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2441056"/>
                  </a:ext>
                </a:extLst>
              </a:tr>
              <a:tr h="6091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Overall Style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Modular               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Modular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>
                          <a:effectLst/>
                        </a:rPr>
                        <a:t>Modular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100" dirty="0">
                          <a:effectLst/>
                        </a:rPr>
                        <a:t>Modular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289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068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2C6D2-4DE9-3444-6739-C2877BDC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5" name="Content Placeholder 4" descr="A close-up of a question&#10;&#10;AI-generated content may be incorrect.">
            <a:extLst>
              <a:ext uri="{FF2B5EF4-FFF2-40B4-BE49-F238E27FC236}">
                <a16:creationId xmlns:a16="http://schemas.microsoft.com/office/drawing/2014/main" id="{51455380-A0A9-C8DB-BB18-763D4C8C0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400" y="1793854"/>
            <a:ext cx="9683750" cy="4204516"/>
          </a:xfrm>
        </p:spPr>
      </p:pic>
    </p:spTree>
    <p:extLst>
      <p:ext uri="{BB962C8B-B14F-4D97-AF65-F5344CB8AC3E}">
        <p14:creationId xmlns:p14="http://schemas.microsoft.com/office/powerpoint/2010/main" val="304220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3E289-4947-80CD-8248-1EF0204C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22583D-8040-4502-B5EC-391AA2046AEE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3e6beba-c4aa-4731-af5d-d735b097eadb}" enabled="0" method="" siteId="{93e6beba-c4aa-4731-af5d-d735b097ea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437</TotalTime>
  <Words>701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Group 8: Front Runners</vt:lpstr>
      <vt:lpstr>Objective</vt:lpstr>
      <vt:lpstr>Dataset Descriptions</vt:lpstr>
      <vt:lpstr>Preprocessing Steps by Each GenAI</vt:lpstr>
      <vt:lpstr>Gemini Output and Analysis</vt:lpstr>
      <vt:lpstr>DeepSeek Output and Analysis</vt:lpstr>
      <vt:lpstr>DeepSeek Output and Analysis</vt:lpstr>
      <vt:lpstr>ChatGPT Output and Analysis</vt:lpstr>
      <vt:lpstr> Copilot Output and Analysis</vt:lpstr>
      <vt:lpstr>Comparison of the 4 Gen AI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Jency Francis [Student-PECS]</dc:creator>
  <cp:lastModifiedBy>sherin johny</cp:lastModifiedBy>
  <cp:revision>15</cp:revision>
  <dcterms:created xsi:type="dcterms:W3CDTF">2025-04-29T16:09:44Z</dcterms:created>
  <dcterms:modified xsi:type="dcterms:W3CDTF">2025-04-30T15:36:14Z</dcterms:modified>
</cp:coreProperties>
</file>